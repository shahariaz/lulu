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4" r:id="rId15"/>
    <p:sldId id="265" r:id="rId16"/>
    <p:sldId id="266" r:id="rId17"/>
    <p:sldId id="263" r:id="rId14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5943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DD6C1"/>
                </a:solidFill>
                <a:latin typeface="Aptos"/>
              </a:rPr>
              <a:t>AI COURSE + PARTNER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 smarter course website</a:t>
            </a:r>
            <a:br/>
            <a:r>
              <a:t>with student &amp; partner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98755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50" b="0">
                <a:solidFill>
                  <a:srgbClr val="D2DCE0"/>
                </a:solidFill>
                <a:latin typeface="Aptos"/>
              </a:rPr>
              <a:t>Responsive public website  •  Student portal  •  Partner dashboard  •  PostgreSQL  • 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22191"/>
            <a:ext cx="2926080" cy="457200"/>
          </a:xfrm>
          <a:prstGeom prst="roundRect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922776"/>
            <a:ext cx="29260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DD6C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22032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Public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8368" y="480060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DD6C1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8368" y="5122032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Student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68" y="480060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DD6C1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68" y="5122032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Partner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8368" y="4800600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DD6C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8368" y="5122032"/>
            <a:ext cx="2057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Admin + AI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0" y="1143000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175004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0" y="1143000"/>
            <a:ext cx="164592" cy="16459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0" y="1828800"/>
            <a:ext cx="164592" cy="16459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98480" y="1188720"/>
            <a:ext cx="164592" cy="16459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743200"/>
            <a:ext cx="164592" cy="16459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69880" y="3154680"/>
            <a:ext cx="164592" cy="16459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938528"/>
            <a:ext cx="1188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611880"/>
            <a:ext cx="214884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COURSE</a:t>
            </a:r>
            <a:br/>
            <a:r>
              <a:t>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98932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B1BEC4"/>
                </a:solidFill>
                <a:latin typeface="Aptos"/>
              </a:rPr>
              <a:t>Platform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VISION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One connected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Students, partners, administrators, course data and AI assistance in a single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901952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6656" y="2103120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35124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302666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1F2C"/>
                </a:solidFill>
                <a:latin typeface="Aptos"/>
              </a:rPr>
              <a:t>PUBLIC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127248"/>
            <a:ext cx="3026664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666F74"/>
                </a:solidFill>
                <a:latin typeface="Aptos"/>
              </a:rPr>
              <a:t>Professional course showcase with responsive listings, course details and clear calls 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01952"/>
            <a:ext cx="34290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2103120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35124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70048"/>
            <a:ext cx="302666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1F2C"/>
                </a:solidFill>
                <a:latin typeface="Aptos"/>
              </a:rPr>
              <a:t>STUDENT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27248"/>
            <a:ext cx="3026664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666F74"/>
                </a:solidFill>
                <a:latin typeface="Aptos"/>
              </a:rPr>
              <a:t>Secure login, profile, course activity, application/enrollment status and document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1901952"/>
            <a:ext cx="2971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18704" y="2103120"/>
            <a:ext cx="438912" cy="43891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135124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2670048"/>
            <a:ext cx="256946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1F2C"/>
                </a:solidFill>
                <a:latin typeface="Aptos"/>
              </a:rPr>
              <a:t>PARTNER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127248"/>
            <a:ext cx="2569464" cy="1389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666F74"/>
                </a:solidFill>
                <a:latin typeface="Aptos"/>
              </a:rPr>
              <a:t>Agents and recruiters manage referrals, track commissions and monitor the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4800600"/>
            <a:ext cx="3429000" cy="1710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41448" y="5001768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1448" y="5033772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8" y="5568696"/>
            <a:ext cx="302666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1F2C"/>
                </a:solidFill>
                <a:latin typeface="Aptos"/>
              </a:rP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8" y="6025896"/>
            <a:ext cx="3026664" cy="461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666F74"/>
                </a:solidFill>
                <a:latin typeface="Aptos"/>
              </a:rPr>
              <a:t>Central control for courses, students, partner brands, applications, users and platform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70448" y="4800600"/>
            <a:ext cx="3429000" cy="1710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71616" y="5001768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71616" y="5033772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1616" y="5568696"/>
            <a:ext cx="3026664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1">
                <a:solidFill>
                  <a:srgbClr val="131F2C"/>
                </a:solidFill>
                <a:latin typeface="Aptos"/>
              </a:rPr>
              <a:t>AI COURSE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6025896"/>
            <a:ext cx="3026664" cy="4612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10" b="0">
                <a:solidFill>
                  <a:srgbClr val="666F74"/>
                </a:solidFill>
                <a:latin typeface="Aptos"/>
              </a:rPr>
              <a:t>AI-assisted course data management and a database-connected course assistant.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PLATFORM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Public site + role-based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All modules share one secure backend and PostgreSQL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1206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874519"/>
            <a:ext cx="5212080" cy="365760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4786A"/>
                </a:solidFill>
                <a:latin typeface="Aptos"/>
              </a:rPr>
              <a:t>PUBLIC SITE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70048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232A30"/>
                </a:solidFill>
                <a:latin typeface="Aptos"/>
              </a:rPr>
              <a:t>Home / hero section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00400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232A30"/>
                </a:solidFill>
                <a:latin typeface="Aptos"/>
              </a:rPr>
              <a:t>Course listings &amp;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30752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2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232A30"/>
                </a:solidFill>
                <a:latin typeface="Aptos"/>
              </a:rPr>
              <a:t>Course availability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61104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15383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232A30"/>
                </a:solidFill>
                <a:latin typeface="Aptos"/>
              </a:rPr>
              <a:t>Responsive design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7914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45736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232A30"/>
                </a:solidFill>
                <a:latin typeface="Aptos"/>
              </a:rPr>
              <a:t>Contact /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48840"/>
            <a:ext cx="2834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DD6C1"/>
                </a:solidFill>
                <a:latin typeface="Aptos"/>
              </a:rPr>
              <a:t>ADMIN &amp; SECURED PORTALS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2670048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24328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Student: register, login, 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3200400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80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Partner: leads, referrals &amp; commission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3730752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685032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Admin: manage courses &amp; students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4261104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215383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Admin: manage partner brands &amp; users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47914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745736"/>
            <a:ext cx="41605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Applications, reports &amp;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From discovery to application &amp; partner tracking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788920"/>
            <a:ext cx="1051560" cy="0"/>
          </a:xfrm>
          <a:prstGeom prst="line">
            <a:avLst/>
          </a:prstGeom>
          <a:ln w="25400">
            <a:solidFill>
              <a:srgbClr val="DA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94360" y="2542032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74036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31F2C"/>
                </a:solidFill>
                <a:latin typeface="Aptos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6F74"/>
                </a:solidFill>
                <a:latin typeface="Aptos"/>
              </a:rPr>
              <a:t>Create account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3048" y="2788920"/>
            <a:ext cx="1051560" cy="0"/>
          </a:xfrm>
          <a:prstGeom prst="line">
            <a:avLst/>
          </a:prstGeom>
          <a:ln w="25400">
            <a:solidFill>
              <a:srgbClr val="DA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52928" y="2542032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574036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18211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31F2C"/>
                </a:solidFill>
                <a:latin typeface="Aptos"/>
              </a:rP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61188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6F74"/>
                </a:solidFill>
                <a:latin typeface="Aptos"/>
              </a:rPr>
              <a:t>Explore courses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71616" y="2788920"/>
            <a:ext cx="1051560" cy="0"/>
          </a:xfrm>
          <a:prstGeom prst="line">
            <a:avLst/>
          </a:prstGeom>
          <a:ln w="25400">
            <a:solidFill>
              <a:srgbClr val="DA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11496" y="2542032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2574036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318211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31F2C"/>
                </a:solidFill>
                <a:latin typeface="Aptos"/>
              </a:rPr>
              <a:t>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361188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6F74"/>
                </a:solidFill>
                <a:latin typeface="Aptos"/>
              </a:rPr>
              <a:t>Submit application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30184" y="2788920"/>
            <a:ext cx="1051560" cy="0"/>
          </a:xfrm>
          <a:prstGeom prst="line">
            <a:avLst/>
          </a:prstGeom>
          <a:ln w="25400">
            <a:solidFill>
              <a:srgbClr val="DAE0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70064" y="2542032"/>
            <a:ext cx="438912" cy="43891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574036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318211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31F2C"/>
                </a:solidFill>
                <a:latin typeface="Aptos"/>
              </a:rPr>
              <a:t>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61188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6F74"/>
                </a:solidFill>
                <a:latin typeface="Aptos"/>
              </a:rPr>
              <a:t>Track referral</a:t>
            </a:r>
          </a:p>
        </p:txBody>
      </p:sp>
      <p:sp>
        <p:nvSpPr>
          <p:cNvPr id="25" name="Oval 24"/>
          <p:cNvSpPr/>
          <p:nvPr/>
        </p:nvSpPr>
        <p:spPr>
          <a:xfrm>
            <a:off x="9628632" y="2542032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8632" y="2574036"/>
            <a:ext cx="4389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632" y="3182112"/>
            <a:ext cx="1828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31F2C"/>
                </a:solidFill>
                <a:latin typeface="Aptos"/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61188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6F74"/>
                </a:solidFill>
                <a:latin typeface="Aptos"/>
              </a:rPr>
              <a:t>Ask course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DATABASE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One relational database powers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PostgreSQL is the single source of truth for users, courses, applications and partner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560320"/>
            <a:ext cx="3154680" cy="128016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816352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3218688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>
                <a:solidFill>
                  <a:srgbClr val="BECCD0"/>
                </a:solidFill>
                <a:latin typeface="Aptos"/>
              </a:rPr>
              <a:t>Users • Courses • Applications • Partners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4786A"/>
                </a:solidFill>
                <a:latin typeface="Aptos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>
                <a:solidFill>
                  <a:srgbClr val="666F74"/>
                </a:solidFill>
                <a:latin typeface="Aptos"/>
              </a:rPr>
              <a:t>students, agents, staff,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4786A"/>
                </a:solidFill>
                <a:latin typeface="Aptos"/>
              </a:rPr>
              <a:t>INSTITUTIONS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65429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>
                <a:solidFill>
                  <a:srgbClr val="666F74"/>
                </a:solidFill>
                <a:latin typeface="Aptos"/>
              </a:rPr>
              <a:t>courses, programmes, intakes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9339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4786A"/>
                </a:solidFill>
                <a:latin typeface="Aptos"/>
              </a:rPr>
              <a:t>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32257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>
                <a:solidFill>
                  <a:srgbClr val="666F74"/>
                </a:solidFill>
                <a:latin typeface="Aptos"/>
              </a:rPr>
              <a:t>status, documents,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1605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32511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4786A"/>
                </a:solidFill>
                <a:latin typeface="Aptos"/>
              </a:rPr>
              <a:t>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65429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80" b="0">
                <a:solidFill>
                  <a:srgbClr val="666F74"/>
                </a:solidFill>
                <a:latin typeface="Aptos"/>
              </a:rPr>
              <a:t>referrals, commissions, pipeline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" y="2286000"/>
            <a:ext cx="841248" cy="640080"/>
          </a:xfrm>
          <a:prstGeom prst="line">
            <a:avLst/>
          </a:prstGeom>
          <a:ln w="20320">
            <a:solidFill>
              <a:srgbClr val="247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74720" y="3474720"/>
            <a:ext cx="841248" cy="1097280"/>
          </a:xfrm>
          <a:prstGeom prst="line">
            <a:avLst/>
          </a:prstGeom>
          <a:ln w="20320">
            <a:solidFill>
              <a:srgbClr val="247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70648" y="2286000"/>
            <a:ext cx="758952" cy="640080"/>
          </a:xfrm>
          <a:prstGeom prst="line">
            <a:avLst/>
          </a:prstGeom>
          <a:ln w="20320">
            <a:solidFill>
              <a:srgbClr val="247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70648" y="3474720"/>
            <a:ext cx="758952" cy="1097280"/>
          </a:xfrm>
          <a:prstGeom prst="line">
            <a:avLst/>
          </a:prstGeom>
          <a:ln w="20320">
            <a:solidFill>
              <a:srgbClr val="247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Suggested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07592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Scalable architecture for the website, portals, partner workflows and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11095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874519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React / Next.js /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74519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Public site + portals; fast and SEO-friendly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41448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532888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Node.js / Next.js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532888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Auth, business logic, partner workflows &amp;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5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27832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91256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191256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Students, courses, applications, institutions, partners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58184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849624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Role-based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849624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Student, partner/agent, staff and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16552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44568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5079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LLM API + RAG / Function Calling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507992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Accurate answers grounded in course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5613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80" b="1">
                <a:solidFill>
                  <a:srgbClr val="24786A"/>
                </a:solidFill>
                <a:latin typeface="Aptos"/>
              </a:rPr>
              <a:t>Hosting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166359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70" b="1">
                <a:solidFill>
                  <a:srgbClr val="131F2C"/>
                </a:solidFill>
                <a:latin typeface="Aptos"/>
              </a:rPr>
              <a:t>Cloud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166359"/>
            <a:ext cx="5166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60" b="0">
                <a:solidFill>
                  <a:srgbClr val="666F74"/>
                </a:solidFill>
                <a:latin typeface="Aptos"/>
              </a:rPr>
              <a:t>SSL, backups and scalable document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ROADMAP &amp;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Admin dashboard is included alongside the AI course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47088"/>
            <a:ext cx="25146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084831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121408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743200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31F2C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5468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0">
                <a:solidFill>
                  <a:srgbClr val="666F74"/>
                </a:solidFill>
                <a:latin typeface="Aptos"/>
              </a:rPr>
              <a:t>Public website, brand, responsive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133087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24786A"/>
                </a:solidFill>
                <a:latin typeface="Aptos"/>
              </a:rPr>
              <a:t>6–8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847088"/>
            <a:ext cx="25146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2084831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121408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43200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31F2C"/>
                </a:solidFill>
                <a:latin typeface="Aptos"/>
              </a:rPr>
              <a:t>STUDENT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15468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0">
                <a:solidFill>
                  <a:srgbClr val="666F74"/>
                </a:solidFill>
                <a:latin typeface="Aptos"/>
              </a:rPr>
              <a:t>Registration, applications,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133087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24786A"/>
                </a:solidFill>
                <a:latin typeface="Aptos"/>
              </a:rPr>
              <a:t>7–9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847088"/>
            <a:ext cx="25146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783" y="2084831"/>
            <a:ext cx="438912" cy="43891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121408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2743200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31F2C"/>
                </a:solidFill>
                <a:latin typeface="Aptos"/>
              </a:rPr>
              <a:t>PARTNER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315468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0">
                <a:solidFill>
                  <a:srgbClr val="666F74"/>
                </a:solidFill>
                <a:latin typeface="Aptos"/>
              </a:rPr>
              <a:t>Referrals, commission tracking,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133087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24786A"/>
                </a:solidFill>
                <a:latin typeface="Aptos"/>
              </a:rPr>
              <a:t>5–7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42248" y="1847088"/>
            <a:ext cx="25146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43416" y="2084831"/>
            <a:ext cx="438912" cy="438912"/>
          </a:xfrm>
          <a:prstGeom prst="ellipse">
            <a:avLst/>
          </a:prstGeom>
          <a:solidFill>
            <a:srgbClr val="24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2121408"/>
            <a:ext cx="4389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743200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30" b="1">
                <a:solidFill>
                  <a:srgbClr val="131F2C"/>
                </a:solidFill>
                <a:latin typeface="Aptos"/>
              </a:rPr>
              <a:t>ADMIN +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154680"/>
            <a:ext cx="2103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0">
                <a:solidFill>
                  <a:srgbClr val="666F74"/>
                </a:solidFill>
                <a:latin typeface="Aptos"/>
              </a:rPr>
              <a:t>Admin dashboard, course management, AI/RAG,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6" y="4133087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30" b="1">
                <a:solidFill>
                  <a:srgbClr val="24786A"/>
                </a:solidFill>
                <a:latin typeface="Aptos"/>
              </a:rPr>
              <a:t>9–14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4892040"/>
            <a:ext cx="10607040" cy="1210704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120640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ESTIMATED 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5010912"/>
            <a:ext cx="2468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$2,500 USD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682120"/>
            <a:ext cx="2377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TIMELINE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5572392"/>
            <a:ext cx="2468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27–38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6672" y="5177352"/>
            <a:ext cx="5186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>
                <a:solidFill>
                  <a:srgbClr val="CDD6D9"/>
                </a:solidFill>
                <a:latin typeface="Aptos"/>
              </a:rPr>
              <a:t>Third-party AI API, hosting and external service charges excluded.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AI COURSE MANAGEMENT + 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Central control for the entire course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Administrators manage platform data from one dashboard, while AI helps keep course information organized and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5532120" cy="342900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DD6C1"/>
                </a:solidFill>
                <a:latin typeface="Aptos"/>
              </a:rPr>
              <a:t>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2,430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776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5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Partner brands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Courses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Partner 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Users &amp;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38528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4786A"/>
                </a:solidFill>
                <a:latin typeface="Aptos"/>
              </a:rPr>
              <a:t>AI COURSE MANAGEMENT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8833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3347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Course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3347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Create, edit and maintain course information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1912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136391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AI assistance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3136391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Generate / refine course descriptions and structured content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69417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63931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Availability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63931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Manage batches, intakes and course status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419709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14223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AI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14223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Keep chatbot responses grounded in current course data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70001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64515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64515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Reduce repetitive course-content administration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96128"/>
            <a:ext cx="10652760" cy="566928"/>
          </a:xfrm>
          <a:prstGeom prst="roundRect">
            <a:avLst/>
          </a:prstGeom>
          <a:solidFill>
            <a:srgbClr val="E0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51576"/>
            <a:ext cx="8229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751576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COURSE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01568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7328" y="5751576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POSTGRESQL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4688" y="5751576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AI / 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1152" y="5751576"/>
            <a:ext cx="1554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COURSE ASSISTANT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751576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ACCURATE ANSWERS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PUBLIC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What visitors see before they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A responsive public site turns browsing into applications, with every course pulled live from the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5532120" cy="342900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DD6C1"/>
                </a:solidFill>
                <a:latin typeface="Aptos"/>
              </a:rPr>
              <a:t>PUBLIC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Course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Avg.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776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5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Mobile responsive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Home / hero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Course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Course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Contact 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38528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4786A"/>
                </a:solidFill>
                <a:latin typeface="Aptos"/>
              </a:rPr>
              <a:t>KEY FEATURES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8833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3347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Course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3347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Browse and filter courses by category, level and schedule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1912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136391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Course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3136391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Full curriculum, pricing and start dates for every course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69417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63931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Real-time availability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63931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Seats and intake dates pulled live from the database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419709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14223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Responsive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14223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Looks and works great on any device, phone to desktop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70001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64515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Clear calls-to-action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64515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Guided paths that turn browsing into applications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96128"/>
            <a:ext cx="10652760" cy="566928"/>
          </a:xfrm>
          <a:prstGeom prst="roundRect">
            <a:avLst/>
          </a:prstGeom>
          <a:solidFill>
            <a:srgbClr val="E0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f200"/>
          <p:cNvSpPr txBox="1"/>
          <p:nvPr/>
        </p:nvSpPr>
        <p:spPr>
          <a:xfrm>
            <a:off x="777240" y="5751576"/>
            <a:ext cx="101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VISITOR</a:t>
            </a:r>
          </a:p>
        </p:txBody>
      </p:sp>
      <p:sp>
        <p:nvSpPr>
          <p:cNvPr id="201" name="TextBox f201"/>
          <p:cNvSpPr txBox="1"/>
          <p:nvPr/>
        </p:nvSpPr>
        <p:spPr>
          <a:xfrm>
            <a:off x="183896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2" name="TextBox f202"/>
          <p:cNvSpPr txBox="1"/>
          <p:nvPr/>
        </p:nvSpPr>
        <p:spPr>
          <a:xfrm>
            <a:off x="2204720" y="5751576"/>
            <a:ext cx="908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BROWSE</a:t>
            </a:r>
          </a:p>
        </p:txBody>
      </p:sp>
      <p:sp>
        <p:nvSpPr>
          <p:cNvPr id="203" name="TextBox f203"/>
          <p:cNvSpPr txBox="1"/>
          <p:nvPr/>
        </p:nvSpPr>
        <p:spPr>
          <a:xfrm>
            <a:off x="315844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4" name="TextBox f204"/>
          <p:cNvSpPr txBox="1"/>
          <p:nvPr/>
        </p:nvSpPr>
        <p:spPr>
          <a:xfrm>
            <a:off x="3524200" y="5751576"/>
            <a:ext cx="155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VIEW DETAILS</a:t>
            </a:r>
          </a:p>
        </p:txBody>
      </p:sp>
      <p:sp>
        <p:nvSpPr>
          <p:cNvPr id="205" name="TextBox f205"/>
          <p:cNvSpPr txBox="1"/>
          <p:nvPr/>
        </p:nvSpPr>
        <p:spPr>
          <a:xfrm>
            <a:off x="512592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6" name="TextBox f206"/>
          <p:cNvSpPr txBox="1"/>
          <p:nvPr/>
        </p:nvSpPr>
        <p:spPr>
          <a:xfrm>
            <a:off x="5491680" y="5751576"/>
            <a:ext cx="1448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CHECK SEATS</a:t>
            </a:r>
          </a:p>
        </p:txBody>
      </p:sp>
      <p:sp>
        <p:nvSpPr>
          <p:cNvPr id="207" name="TextBox f207"/>
          <p:cNvSpPr txBox="1"/>
          <p:nvPr/>
        </p:nvSpPr>
        <p:spPr>
          <a:xfrm>
            <a:off x="698540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8" name="TextBox f208"/>
          <p:cNvSpPr txBox="1"/>
          <p:nvPr/>
        </p:nvSpPr>
        <p:spPr>
          <a:xfrm>
            <a:off x="7351160" y="5751576"/>
            <a:ext cx="800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APPLY</a:t>
            </a:r>
          </a:p>
        </p:txBody>
      </p:sp>
      <p:sp>
        <p:nvSpPr>
          <p:cNvPr id="209" name="TextBox f209"/>
          <p:cNvSpPr txBox="1"/>
          <p:nvPr/>
        </p:nvSpPr>
        <p:spPr>
          <a:xfrm>
            <a:off x="819688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10" name="TextBox f210"/>
          <p:cNvSpPr txBox="1"/>
          <p:nvPr/>
        </p:nvSpPr>
        <p:spPr>
          <a:xfrm>
            <a:off x="8562640" y="5751576"/>
            <a:ext cx="17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STUDENT PORTAL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STUDENT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Everything a student needs after signing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Students track applications, manage documents and stay updated from a single secure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5532120" cy="342900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DD6C1"/>
                </a:solidFill>
                <a:latin typeface="Aptos"/>
              </a:rPr>
              <a:t>STUDENT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Active courses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Profile 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776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5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Documents on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Courses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38528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4786A"/>
                </a:solidFill>
                <a:latin typeface="Aptos"/>
              </a:rPr>
              <a:t>KEY FEATURES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8833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3347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Secure 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3347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Register, verify and sign in safely to a personal account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1912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136391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Application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3136391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See status at every stage, from submitted to approved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69417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63931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Document upload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63931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Attach and manage required paperwork in one place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419709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14223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Enrollment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14223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Know exactly where each course application stands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70001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64515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64515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Get updates the moment an application status changes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96128"/>
            <a:ext cx="10652760" cy="566928"/>
          </a:xfrm>
          <a:prstGeom prst="roundRect">
            <a:avLst/>
          </a:prstGeom>
          <a:solidFill>
            <a:srgbClr val="E0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f200"/>
          <p:cNvSpPr txBox="1"/>
          <p:nvPr/>
        </p:nvSpPr>
        <p:spPr>
          <a:xfrm>
            <a:off x="777240" y="5751576"/>
            <a:ext cx="101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STUDENT</a:t>
            </a:r>
          </a:p>
        </p:txBody>
      </p:sp>
      <p:sp>
        <p:nvSpPr>
          <p:cNvPr id="201" name="TextBox f201"/>
          <p:cNvSpPr txBox="1"/>
          <p:nvPr/>
        </p:nvSpPr>
        <p:spPr>
          <a:xfrm>
            <a:off x="183896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2" name="TextBox f202"/>
          <p:cNvSpPr txBox="1"/>
          <p:nvPr/>
        </p:nvSpPr>
        <p:spPr>
          <a:xfrm>
            <a:off x="2204720" y="5751576"/>
            <a:ext cx="112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REGISTER</a:t>
            </a:r>
          </a:p>
        </p:txBody>
      </p:sp>
      <p:sp>
        <p:nvSpPr>
          <p:cNvPr id="203" name="TextBox f203"/>
          <p:cNvSpPr txBox="1"/>
          <p:nvPr/>
        </p:nvSpPr>
        <p:spPr>
          <a:xfrm>
            <a:off x="337444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4" name="TextBox f204"/>
          <p:cNvSpPr txBox="1"/>
          <p:nvPr/>
        </p:nvSpPr>
        <p:spPr>
          <a:xfrm>
            <a:off x="3740200" y="5751576"/>
            <a:ext cx="1340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SUBMIT APP</a:t>
            </a:r>
          </a:p>
        </p:txBody>
      </p:sp>
      <p:sp>
        <p:nvSpPr>
          <p:cNvPr id="205" name="TextBox f205"/>
          <p:cNvSpPr txBox="1"/>
          <p:nvPr/>
        </p:nvSpPr>
        <p:spPr>
          <a:xfrm>
            <a:off x="512592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6" name="TextBox f206"/>
          <p:cNvSpPr txBox="1"/>
          <p:nvPr/>
        </p:nvSpPr>
        <p:spPr>
          <a:xfrm>
            <a:off x="5491680" y="5751576"/>
            <a:ext cx="155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TRACK STATUS</a:t>
            </a:r>
          </a:p>
        </p:txBody>
      </p:sp>
      <p:sp>
        <p:nvSpPr>
          <p:cNvPr id="207" name="TextBox f207"/>
          <p:cNvSpPr txBox="1"/>
          <p:nvPr/>
        </p:nvSpPr>
        <p:spPr>
          <a:xfrm>
            <a:off x="709340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8" name="TextBox f208"/>
          <p:cNvSpPr txBox="1"/>
          <p:nvPr/>
        </p:nvSpPr>
        <p:spPr>
          <a:xfrm>
            <a:off x="7459160" y="5751576"/>
            <a:ext cx="1448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UPLOAD DOCS</a:t>
            </a:r>
          </a:p>
        </p:txBody>
      </p:sp>
      <p:sp>
        <p:nvSpPr>
          <p:cNvPr id="209" name="TextBox f209"/>
          <p:cNvSpPr txBox="1"/>
          <p:nvPr/>
        </p:nvSpPr>
        <p:spPr>
          <a:xfrm>
            <a:off x="895288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10" name="TextBox f210"/>
          <p:cNvSpPr txBox="1"/>
          <p:nvPr/>
        </p:nvSpPr>
        <p:spPr>
          <a:xfrm>
            <a:off x="9318640" y="5751576"/>
            <a:ext cx="112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ENROLLED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1">
                <a:solidFill>
                  <a:srgbClr val="24786A"/>
                </a:solidFill>
                <a:latin typeface="Aptos"/>
              </a:rPr>
              <a:t>PARTNER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31F2C"/>
                </a:solidFill>
                <a:latin typeface="Aptos"/>
              </a:rPr>
              <a:t>Partners manage referrals without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07592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666F74"/>
                </a:solidFill>
                <a:latin typeface="Aptos"/>
              </a:rPr>
              <a:t>Agents and recruiters track leads, commissions and brand assets from their own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38528"/>
            <a:ext cx="5532120" cy="3429000"/>
          </a:xfrm>
          <a:prstGeom prst="roundRect">
            <a:avLst/>
          </a:prstGeom>
          <a:solidFill>
            <a:srgbClr val="13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720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7DD6C1"/>
                </a:solidFill>
                <a:latin typeface="Aptos"/>
              </a:rPr>
              <a:t>PARTNER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1097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Active referrals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$4,200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Commission earned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776" y="2971800"/>
            <a:ext cx="1371600" cy="777240"/>
          </a:xfrm>
          <a:prstGeom prst="roundRect">
            <a:avLst/>
          </a:prstGeom>
          <a:solidFill>
            <a:srgbClr val="1C2F3D"/>
          </a:solidFill>
          <a:ln>
            <a:solidFill>
              <a:srgbClr val="3B4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5" y="3127248"/>
            <a:ext cx="1188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5" y="3456432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80" b="0">
                <a:solidFill>
                  <a:srgbClr val="BECCD0"/>
                </a:solidFill>
                <a:latin typeface="Aptos"/>
              </a:rPr>
              <a:t>Course brands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7DD6C1"/>
                </a:solidFill>
                <a:latin typeface="Aptos"/>
              </a:rPr>
              <a:t>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Leads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Referrals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776" y="44805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Commission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Brand 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8646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  <a:latin typeface="Aptos"/>
              </a:rPr>
              <a:t>• Payouts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938528"/>
            <a:ext cx="48920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A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762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24786A"/>
                </a:solidFill>
                <a:latin typeface="Aptos"/>
              </a:rPr>
              <a:t>KEY FEATURES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68833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63347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Referral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3347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Log and monitor every lead from first contact to enrollment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19125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136391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Commission calculator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3136391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Automatic, transparent commission on every signup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369417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63931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Pipeline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63931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See where each referral sits in the funnel at a glance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419709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14223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Brand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414223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Access approved marketing assets and course information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4700016"/>
            <a:ext cx="118872" cy="118872"/>
          </a:xfrm>
          <a:prstGeom prst="ellipse">
            <a:avLst/>
          </a:prstGeom>
          <a:solidFill>
            <a:srgbClr val="EE6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645152"/>
            <a:ext cx="1143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131F2C"/>
                </a:solidFill>
                <a:latin typeface="Aptos"/>
              </a:rPr>
              <a:t>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645152"/>
            <a:ext cx="2880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60" b="0">
                <a:solidFill>
                  <a:srgbClr val="666F74"/>
                </a:solidFill>
                <a:latin typeface="Aptos"/>
              </a:rPr>
              <a:t>Export performance and payout history any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96128"/>
            <a:ext cx="10652760" cy="566928"/>
          </a:xfrm>
          <a:prstGeom prst="roundRect">
            <a:avLst/>
          </a:prstGeom>
          <a:solidFill>
            <a:srgbClr val="E0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f200"/>
          <p:cNvSpPr txBox="1"/>
          <p:nvPr/>
        </p:nvSpPr>
        <p:spPr>
          <a:xfrm>
            <a:off x="777240" y="5751576"/>
            <a:ext cx="101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PARTNER</a:t>
            </a:r>
          </a:p>
        </p:txBody>
      </p:sp>
      <p:sp>
        <p:nvSpPr>
          <p:cNvPr id="201" name="TextBox f201"/>
          <p:cNvSpPr txBox="1"/>
          <p:nvPr/>
        </p:nvSpPr>
        <p:spPr>
          <a:xfrm>
            <a:off x="183896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2" name="TextBox f202"/>
          <p:cNvSpPr txBox="1"/>
          <p:nvPr/>
        </p:nvSpPr>
        <p:spPr>
          <a:xfrm>
            <a:off x="2204720" y="5751576"/>
            <a:ext cx="1340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REFER LEAD</a:t>
            </a:r>
          </a:p>
        </p:txBody>
      </p:sp>
      <p:sp>
        <p:nvSpPr>
          <p:cNvPr id="203" name="TextBox f203"/>
          <p:cNvSpPr txBox="1"/>
          <p:nvPr/>
        </p:nvSpPr>
        <p:spPr>
          <a:xfrm>
            <a:off x="359044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4" name="TextBox f204"/>
          <p:cNvSpPr txBox="1"/>
          <p:nvPr/>
        </p:nvSpPr>
        <p:spPr>
          <a:xfrm>
            <a:off x="3956200" y="5751576"/>
            <a:ext cx="1772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TRACK PIPELINE</a:t>
            </a:r>
          </a:p>
        </p:txBody>
      </p:sp>
      <p:sp>
        <p:nvSpPr>
          <p:cNvPr id="205" name="TextBox f205"/>
          <p:cNvSpPr txBox="1"/>
          <p:nvPr/>
        </p:nvSpPr>
        <p:spPr>
          <a:xfrm>
            <a:off x="577392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6" name="TextBox f206"/>
          <p:cNvSpPr txBox="1"/>
          <p:nvPr/>
        </p:nvSpPr>
        <p:spPr>
          <a:xfrm>
            <a:off x="6139680" y="5751576"/>
            <a:ext cx="112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ENROLLED</a:t>
            </a:r>
          </a:p>
        </p:txBody>
      </p:sp>
      <p:sp>
        <p:nvSpPr>
          <p:cNvPr id="207" name="TextBox f207"/>
          <p:cNvSpPr txBox="1"/>
          <p:nvPr/>
        </p:nvSpPr>
        <p:spPr>
          <a:xfrm>
            <a:off x="730940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08" name="TextBox f208"/>
          <p:cNvSpPr txBox="1"/>
          <p:nvPr/>
        </p:nvSpPr>
        <p:spPr>
          <a:xfrm>
            <a:off x="7675160" y="5751576"/>
            <a:ext cx="1880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131F2C"/>
                </a:solidFill>
                <a:latin typeface="Aptos"/>
              </a:rPr>
              <a:t>EARN COMMISSION</a:t>
            </a:r>
          </a:p>
        </p:txBody>
      </p:sp>
      <p:sp>
        <p:nvSpPr>
          <p:cNvPr id="209" name="TextBox f209"/>
          <p:cNvSpPr txBox="1"/>
          <p:nvPr/>
        </p:nvSpPr>
        <p:spPr>
          <a:xfrm>
            <a:off x="9600880" y="5733288"/>
            <a:ext cx="320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666F74"/>
                </a:solidFill>
                <a:latin typeface="Aptos"/>
              </a:rPr>
              <a:t>→</a:t>
            </a:r>
          </a:p>
        </p:txBody>
      </p:sp>
      <p:sp>
        <p:nvSpPr>
          <p:cNvPr id="210" name="TextBox f210"/>
          <p:cNvSpPr txBox="1"/>
          <p:nvPr/>
        </p:nvSpPr>
        <p:spPr>
          <a:xfrm>
            <a:off x="9966640" y="5751576"/>
            <a:ext cx="1124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4786A"/>
                </a:solidFill>
                <a:latin typeface="Aptos"/>
              </a:rPr>
              <a:t>GET PAID</a:t>
            </a:r>
          </a:p>
        </p:txBody>
      </p:sp>
      <p:sp>
        <p:nvSpPr>
          <p:cNvPr id="199" name="Page Number"/>
          <p:cNvSpPr txBox="1"/>
          <p:nvPr/>
        </p:nvSpPr>
        <p:spPr>
          <a:xfrm>
            <a:off x="11137392" y="32004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1">
                <a:solidFill>
                  <a:srgbClr val="666F7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